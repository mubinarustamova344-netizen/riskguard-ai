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4320"/>
            <a:ext cx="4389120" cy="2400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229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RiskGuard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4D8"/>
                </a:solidFill>
                <a:latin typeface="Calibri"/>
              </a:rPr>
              <a:t>Road Accident Risk Assessment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alibri"/>
              </a:rPr>
              <a:t>for Insurance Companies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64008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1463040" cy="9144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12,000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3931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Calibri"/>
              </a:rPr>
              <a:t>Training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3200400"/>
            <a:ext cx="1463040" cy="9144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246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91.3%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3931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Calibri"/>
              </a:rPr>
              <a:t>Model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200400"/>
            <a:ext cx="1463040" cy="9144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246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3931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Calibri"/>
              </a:rPr>
              <a:t>Risk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3200400"/>
            <a:ext cx="1463040" cy="914400"/>
          </a:xfrm>
          <a:prstGeom prst="rect">
            <a:avLst/>
          </a:prstGeom>
          <a:solidFill>
            <a:srgbClr val="141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3246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2.30×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63931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E"/>
                </a:solidFill>
                <a:latin typeface="Calibri"/>
              </a:rPr>
              <a:t>Max Multiplier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Mubina Rustamova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Final Year Project  ·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2180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Calibri"/>
              </a:rPr>
              <a:t>Python · Flask · scikit-learn · Claude AI · Bootstrap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0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Background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Why motor insurance needs AI-powered risk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743200" cy="146304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£6.7bn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UK motor insurance
claims in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280160"/>
            <a:ext cx="2743200" cy="1463040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 in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Drivers involved in an
accident in their lifetime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280160"/>
            <a:ext cx="2743200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30–40%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Premium variance between
low and high-risk drivers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280160"/>
            <a:ext cx="2743200" cy="14630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32588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19659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Traditional underwriting
is slow and subjective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26080"/>
            <a:ext cx="1161288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926080"/>
            <a:ext cx="54864" cy="3429000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035808"/>
            <a:ext cx="113385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6BD6"/>
                </a:solidFill>
                <a:latin typeface="Calibri"/>
              </a:rPr>
              <a:t>Core Industry Challenges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• Insurers rely on ≤10 static variables — missing key behavioural signals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• Manual underwriting is inconsistent — same risk, different price per underwriter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• No driver feedback: policyholders get no guidance on reducing their premium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• Telematics data is underused despite 15–30% accuracy improvement potential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• GDPR Art. 22 &amp; EU AI Act demand explainable, auditable algorithmic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What this project sets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12880" cy="749808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53312"/>
            <a:ext cx="11338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AIM: Build a machine-learning–powered web application that automates driver risk profiling and premium calculation for insurance underwriters — with explainable outputs.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566928" cy="658368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35915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212848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249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  <a:latin typeface="Calibri"/>
              </a:rPr>
              <a:t>Literature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5420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Survey ML in motor insurance · 5+ peer-reviewed 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62656"/>
            <a:ext cx="566928" cy="658368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10896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2962656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2999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  <a:latin typeface="Calibri"/>
              </a:rPr>
              <a:t>Dataset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29183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12,000 synthetic records · 12 features · domain-weighted labels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12463"/>
            <a:ext cx="566928" cy="658368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85876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3712463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5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  <a:latin typeface="Calibri"/>
              </a:rPr>
              <a:t>Model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40416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Compare 4 classifiers · GridSearchCV tuning · &gt;85% target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62272"/>
            <a:ext cx="566928" cy="658368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6085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4462272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4498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  <a:latin typeface="Calibri"/>
              </a:rPr>
              <a:t>Web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479145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Secure Flask app · CSRF · Auth · Rate limiting · Audit 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212079"/>
            <a:ext cx="566928" cy="658368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358383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" y="5212079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524865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  <a:latin typeface="Calibri"/>
              </a:rPr>
              <a:t>Explainability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" y="554126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Factor contributions · Improvement roadmap · Recommendations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61888"/>
            <a:ext cx="566928" cy="658368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10819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" y="5961888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5" y="5998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  <a:latin typeface="Calibri"/>
              </a:rPr>
              <a:t>Advanced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5" y="62910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PDF reports · AI chatbot · Bilingual UI · PWA · Quote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Key academic findings that shaped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98448"/>
            <a:ext cx="1161288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98448"/>
            <a:ext cx="54864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353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BD6"/>
                </a:solidFill>
                <a:latin typeface="Calibri"/>
              </a:rPr>
              <a:t>Verbelen et al.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45919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Gradient Boosting outperforms GLMs for claim frequency — non-linear interactions between age, mileage, and violations are missed by linear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5727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5E"/>
                </a:solidFill>
                <a:latin typeface="Calibri"/>
              </a:rPr>
              <a:t>→ Algorithm selection justified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77439"/>
            <a:ext cx="1161288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77439"/>
            <a:ext cx="54864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43230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BD6"/>
                </a:solidFill>
                <a:latin typeface="Calibri"/>
              </a:rPr>
              <a:t>Guelman (2012)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724911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Boosted trees show superior lift curves over logistic regression baselines in insurance risk segmentation.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5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5E"/>
                </a:solidFill>
                <a:latin typeface="Calibri"/>
              </a:rPr>
              <a:t>→ Production model validated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56432"/>
            <a:ext cx="1161288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56432"/>
            <a:ext cx="54864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5112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BD6"/>
                </a:solidFill>
                <a:latin typeface="Calibri"/>
              </a:rPr>
              <a:t>Jiang et al. (2020)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803904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Prior accidents = strongest predictor (consistent with +14 pts weighting). U-shaped age risk confirmed.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307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5E"/>
                </a:solidFill>
                <a:latin typeface="Calibri"/>
              </a:rPr>
              <a:t>→ Feature weighting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35424"/>
            <a:ext cx="1161288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535424"/>
            <a:ext cx="54864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5902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BD6"/>
                </a:solidFill>
                <a:latin typeface="Calibri"/>
              </a:rPr>
              <a:t>Ayuso et al. (2019)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882896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Telematics data reduces premium uncertainty by up to 30% over traditional actuarial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097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5E"/>
                </a:solidFill>
                <a:latin typeface="Calibri"/>
              </a:rPr>
              <a:t>→ night_driving_pct feature justified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14416"/>
            <a:ext cx="1161288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614416"/>
            <a:ext cx="54864" cy="9875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56692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BD6"/>
                </a:solidFill>
                <a:latin typeface="Calibri"/>
              </a:rPr>
              <a:t>Cevolini &amp; Esposito (2020)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961888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  <a:latin typeface="Calibri"/>
              </a:rPr>
              <a:t>Explainability required by GDPR Art. 22 — black-box models face regulatory resistance.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8887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5E"/>
                </a:solidFill>
                <a:latin typeface="Calibri"/>
              </a:rPr>
              <a:t>→ Factor contributions +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Design Science Research · Flask · scikit-learn · Claude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  <p:pic>
        <p:nvPicPr>
          <p:cNvPr id="9" name="Picture 8" descr="fig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98448"/>
            <a:ext cx="5852160" cy="33932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298448"/>
            <a:ext cx="56692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4864" cy="5394960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08176"/>
            <a:ext cx="53949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6BD6"/>
                </a:solidFill>
                <a:latin typeface="Calibri"/>
              </a:rPr>
              <a:t>Technology Stack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Research: Design Science Research (DSR)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Development: Agile sprints (8 sprints × 10 weeks)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Backend: Python 3.11, Flask 3.x, SQLAlchemy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Security: CSRF (Flask-WTF), Rate Limiting, Werkzeug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ML: scikit-learn — 4 models + GridSearchCV tuning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Frontend: Bootstrap 5, Chart.js, Jinja2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AI: Claude Haiku / regex fallback chatbot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PDF: ReportLab (in-memory, no temp files)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i18n: Custom lang.py — English &amp; Uzbek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PWA: Service Worker + Web App Manifest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Collection &amp; ML Model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12,000 records · 4 algorithms · 91.3%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pic>
        <p:nvPicPr>
          <p:cNvPr id="9" name="Picture 8" descr="fig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3216442"/>
          </a:xfrm>
          <a:prstGeom prst="rect">
            <a:avLst/>
          </a:prstGeom>
        </p:spPr>
      </p:pic>
      <p:pic>
        <p:nvPicPr>
          <p:cNvPr id="10" name="Picture 9" descr="fig3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669280" cy="33641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CC"/>
                </a:solidFill>
                <a:latin typeface="Calibri"/>
              </a:rP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87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AACC"/>
                </a:solidFill>
                <a:latin typeface="Calibri"/>
              </a:rPr>
              <a:t>84.2%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CC"/>
                </a:solidFill>
                <a:latin typeface="Calibri"/>
              </a:rPr>
              <a:t>Logistic Reg.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687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AAACC"/>
                </a:solidFill>
                <a:latin typeface="Calibri"/>
              </a:rPr>
              <a:t>79.1%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687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88.7%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A745"/>
                </a:solidFill>
                <a:latin typeface="Calibri"/>
              </a:rPr>
              <a:t>Gradient Boost (Tuned)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6875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8A745"/>
                </a:solidFill>
                <a:latin typeface="Calibri"/>
              </a:rPr>
              <a:t>91.3% 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Implementation: Dashboard &amp; Assessment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Real screenshots from the running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  <p:pic>
        <p:nvPicPr>
          <p:cNvPr id="9" name="Picture 8" descr="screen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3809048"/>
          </a:xfrm>
          <a:prstGeom prst="rect">
            <a:avLst/>
          </a:prstGeom>
        </p:spPr>
      </p:pic>
      <p:pic>
        <p:nvPicPr>
          <p:cNvPr id="10" name="Picture 9" descr="screen3_assess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760720" cy="414051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989320"/>
            <a:ext cx="5394960" cy="658368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03504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Admin Dashboard — 4 KPI cards, risk charts, model metrics, recent assessments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5989320"/>
            <a:ext cx="5760720" cy="658368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60350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Assessment Form — 12 fields, 3 sections, server-side validation, CSRF protection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Implementation: Results &amp; Comparison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Risk gauge · Factor breakdown · Improvement roadmap · Side-by-side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  <p:pic>
        <p:nvPicPr>
          <p:cNvPr id="9" name="Picture 8" descr="screen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4429125"/>
          </a:xfrm>
          <a:prstGeom prst="rect">
            <a:avLst/>
          </a:prstGeom>
        </p:spPr>
      </p:pic>
      <p:pic>
        <p:nvPicPr>
          <p:cNvPr id="10" name="Picture 9" descr="screen5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760720" cy="36004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989320"/>
            <a:ext cx="5394960" cy="658368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03504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Results — Risk gauge, factor contributions, improvement roadmap, personalised recs, PDF download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5989320"/>
            <a:ext cx="5760720" cy="658368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603504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Comparison Tool — Two profiles side-by-side, factor-by-factor table, winner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Implementation: AI Chatbot · History · Quote · Model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Full feature set — ready for production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  <a:latin typeface="Calibri"/>
              </a:rPr>
              <a:t>RiskGuard AI  |  Road Accident Risk Assessment  |  Mubina Rustamova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6019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  <p:pic>
        <p:nvPicPr>
          <p:cNvPr id="9" name="Picture 8" descr="screen6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5715000" cy="3482578"/>
          </a:xfrm>
          <a:prstGeom prst="rect">
            <a:avLst/>
          </a:prstGeom>
        </p:spPr>
      </p:pic>
      <p:pic>
        <p:nvPicPr>
          <p:cNvPr id="10" name="Picture 9" descr="screen8_qu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61872"/>
            <a:ext cx="5897880" cy="3225403"/>
          </a:xfrm>
          <a:prstGeom prst="rect">
            <a:avLst/>
          </a:prstGeom>
        </p:spPr>
      </p:pic>
      <p:pic>
        <p:nvPicPr>
          <p:cNvPr id="11" name="Picture 10" descr="screen7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794760"/>
            <a:ext cx="5715000" cy="3214688"/>
          </a:xfrm>
          <a:prstGeom prst="rect">
            <a:avLst/>
          </a:prstGeom>
        </p:spPr>
      </p:pic>
      <p:pic>
        <p:nvPicPr>
          <p:cNvPr id="12" name="Picture 11" descr="screen9_model_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794760"/>
            <a:ext cx="5897880" cy="3962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4805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 &amp;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alibri"/>
              </a:rPr>
              <a:t>What was achieved · What was learned ·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76809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4864" cy="2743200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18488"/>
            <a:ext cx="7406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6BD6"/>
                </a:solidFill>
                <a:latin typeface="Calibri"/>
              </a:rPr>
              <a:t>What Was Achieved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✔  91.3% accuracy — Gradient Boosting outperforms all 3 baseline models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✔  12 features · factor contributions · improvement roadmap · class probabilities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✔  Secure Flask app: CSRF · Rate limiting · Hashing · Security headers · Audit log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✔  AI chatbot (Claude Haiku) · PDF reports · Bilingual UI · PWA · Quote calculator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✔  Full admin dashboard with historical trends and model performance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50876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508760"/>
            <a:ext cx="54864" cy="2743200"/>
          </a:xfrm>
          <a:prstGeom prst="rect">
            <a:avLst/>
          </a:prstGeom>
          <a:solidFill>
            <a:srgbClr val="1E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18488"/>
            <a:ext cx="3383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6BD6"/>
                </a:solidFill>
                <a:latin typeface="Calibri"/>
              </a:rPr>
              <a:t>Lessons Learned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⟶  Real data &gt;&gt; synthetic for production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⟶  Explainability as important as accuracy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⟶  Security must be designed in, not added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44455"/>
                </a:solidFill>
                <a:latin typeface="Calibri"/>
              </a:rPr>
              <a:t>⟶  AI pair programming accelerates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34840"/>
            <a:ext cx="12188952" cy="1261872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17136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RiskGuard AI demonstrates that machine learning can bring objectivity, speed, and transparency to motor insurance — replacing manual underwriting with a reproducible, data-driven decision support system that provides explainable, actionable outputs.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96712"/>
            <a:ext cx="12188952" cy="1161288"/>
          </a:xfrm>
          <a:prstGeom prst="rect">
            <a:avLst/>
          </a:prstGeom>
          <a:solidFill>
            <a:srgbClr val="101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mubinarustamova86@gmail.com  · 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63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4D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